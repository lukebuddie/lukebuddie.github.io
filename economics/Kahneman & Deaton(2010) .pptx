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Average"/>
      <p:regular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verage-regular.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2434d3b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2434d3b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2434d3b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2434d3b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249782b7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249782b7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249782b7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249782b7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249782b7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249782b7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249782b7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249782b7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e794dc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2e794dc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9ccde09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9ccde09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2e794dc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2e794dc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Madeleine Rael</a:t>
            </a:r>
            <a:endParaRPr sz="1400"/>
          </a:p>
          <a:p>
            <a:pPr indent="-317500" lvl="0" marL="457200" rtl="0" algn="l">
              <a:spcBef>
                <a:spcPts val="0"/>
              </a:spcBef>
              <a:spcAft>
                <a:spcPts val="0"/>
              </a:spcAft>
              <a:buSzPts val="1400"/>
              <a:buAutoNum type="arabicPeriod"/>
            </a:pPr>
            <a:r>
              <a:rPr lang="en" sz="1400"/>
              <a:t>It suggests that </a:t>
            </a:r>
            <a:r>
              <a:rPr lang="en" sz="1400" u="sng"/>
              <a:t>chasing extremely high income may not make people emotionally happier</a:t>
            </a:r>
            <a:r>
              <a:rPr lang="en" sz="1400"/>
              <a:t> once they reach a comfortable level. But beyond that threshold, </a:t>
            </a:r>
            <a:r>
              <a:rPr lang="en" sz="1400" u="sng"/>
              <a:t>people might get more emotional benefit from investing in friendships, reducing stress, or finding meaningful work.</a:t>
            </a:r>
            <a:endParaRPr sz="1400" u="sng"/>
          </a:p>
          <a:p>
            <a:pPr indent="-317500" lvl="0" marL="457200" rtl="0" algn="l">
              <a:spcBef>
                <a:spcPts val="0"/>
              </a:spcBef>
              <a:spcAft>
                <a:spcPts val="0"/>
              </a:spcAft>
              <a:buSzPts val="1400"/>
              <a:buAutoNum type="arabicPeriod"/>
            </a:pPr>
            <a:r>
              <a:rPr lang="en" sz="1400"/>
              <a:t>if someone has low income, they often have less social support, less time, worse healthcare access, and more chronic stress. So when something bad happens, like divorce or illness, they don’t just deal with the event- they deal with it</a:t>
            </a:r>
            <a:r>
              <a:rPr lang="en" sz="1400" u="sng"/>
              <a:t> on top of financial insecurity.</a:t>
            </a:r>
            <a:endParaRPr sz="1400" u="sng"/>
          </a:p>
          <a:p>
            <a:pPr indent="-317500" lvl="0" marL="457200" rtl="0" algn="l">
              <a:spcBef>
                <a:spcPts val="0"/>
              </a:spcBef>
              <a:spcAft>
                <a:spcPts val="0"/>
              </a:spcAft>
              <a:buSzPts val="1400"/>
              <a:buAutoNum type="arabicPeriod"/>
            </a:pPr>
            <a:r>
              <a:rPr lang="en" sz="1400"/>
              <a:t>The study shows a </a:t>
            </a:r>
            <a:r>
              <a:rPr b="1" lang="en" sz="1400" u="sng"/>
              <a:t>disconnect</a:t>
            </a:r>
            <a:r>
              <a:rPr lang="en" sz="1400"/>
              <a:t> between what people think will make them happy and what actually affects their emotions day-to-day.</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147300"/>
            <a:ext cx="87129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480"/>
              <a:t>Kahneman &amp; Deaton (2010) “High Income Improves Evaluation of Life but Not Emotional Well-being”</a:t>
            </a:r>
            <a:endParaRPr sz="3480"/>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 sz="3031">
                <a:solidFill>
                  <a:schemeClr val="dk1"/>
                </a:solidFill>
              </a:rPr>
              <a:t>By: Luke Buddie, Samantha Vargas, Angel Sandoval, </a:t>
            </a:r>
            <a:r>
              <a:rPr lang="en" sz="3031">
                <a:solidFill>
                  <a:schemeClr val="dk1"/>
                </a:solidFill>
              </a:rPr>
              <a:t>Mingze Weng, Arielle Makedonsky, Madeleine Rael</a:t>
            </a:r>
            <a:endParaRPr sz="3031">
              <a:solidFill>
                <a:schemeClr val="dk1"/>
              </a:solidFill>
            </a:endParaRPr>
          </a:p>
          <a:p>
            <a:pPr indent="0" lvl="0" marL="0" rtl="0" algn="ctr">
              <a:spcBef>
                <a:spcPts val="0"/>
              </a:spcBef>
              <a:spcAft>
                <a:spcPts val="0"/>
              </a:spcAft>
              <a:buNone/>
            </a:pPr>
            <a:r>
              <a:t/>
            </a:r>
            <a:endParaRPr b="1" sz="1300">
              <a:solidFill>
                <a:srgbClr val="1F1F1F"/>
              </a:solidFill>
              <a:highlight>
                <a:srgbClr val="FFFFFF"/>
              </a:highlight>
              <a:latin typeface="Roboto"/>
              <a:ea typeface="Roboto"/>
              <a:cs typeface="Roboto"/>
              <a:sym typeface="Roboto"/>
            </a:endParaRPr>
          </a:p>
          <a:p>
            <a:pPr indent="0" lvl="0" marL="0" rtl="0" algn="ctr">
              <a:spcBef>
                <a:spcPts val="0"/>
              </a:spcBef>
              <a:spcAft>
                <a:spcPts val="0"/>
              </a:spcAft>
              <a:buNone/>
            </a:pPr>
            <a:r>
              <a:t/>
            </a:r>
            <a:endParaRPr sz="1500">
              <a:highlight>
                <a:srgbClr val="FFFFFF"/>
              </a:highlight>
            </a:endParaRPr>
          </a:p>
        </p:txBody>
      </p:sp>
      <p:sp>
        <p:nvSpPr>
          <p:cNvPr id="61" name="Google Shape;61;p13"/>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txBox="1"/>
          <p:nvPr/>
        </p:nvSpPr>
        <p:spPr>
          <a:xfrm>
            <a:off x="457200" y="4572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nvSpPr>
        <p:spPr>
          <a:xfrm>
            <a:off x="609600" y="6096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Question &amp; Objective of the Study</a:t>
            </a:r>
            <a:endParaRPr/>
          </a:p>
        </p:txBody>
      </p:sp>
      <p:sp>
        <p:nvSpPr>
          <p:cNvPr id="69" name="Google Shape;69;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Does higher income improve people’s </a:t>
            </a:r>
            <a:r>
              <a:rPr b="1" lang="en"/>
              <a:t>emotional well-being</a:t>
            </a:r>
            <a:r>
              <a:rPr lang="en"/>
              <a:t> (their daily feelings) and their </a:t>
            </a:r>
            <a:r>
              <a:rPr b="1" lang="en"/>
              <a:t>life evaluation</a:t>
            </a:r>
            <a:r>
              <a:rPr lang="en"/>
              <a:t> (how they think about their life) in the same way, or do these two aspects of well-being relate to income differently?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To examine whether money “buys happiness” and to determine if income has a </a:t>
            </a:r>
            <a:r>
              <a:rPr b="1" lang="en"/>
              <a:t>continuous effect on life evaluation</a:t>
            </a:r>
            <a:r>
              <a:rPr lang="en"/>
              <a:t> while having a </a:t>
            </a:r>
            <a:r>
              <a:rPr b="1" lang="en"/>
              <a:t>limited or capped effect on emotional well-being</a:t>
            </a:r>
            <a:r>
              <a:rPr lang="en"/>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157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1</a:t>
            </a:r>
            <a:endParaRPr/>
          </a:p>
          <a:p>
            <a:pPr indent="0" lvl="0" marL="0" rtl="0" algn="l">
              <a:spcBef>
                <a:spcPts val="0"/>
              </a:spcBef>
              <a:spcAft>
                <a:spcPts val="0"/>
              </a:spcAft>
              <a:buNone/>
            </a:pPr>
            <a:r>
              <a:rPr lang="en" sz="1800">
                <a:solidFill>
                  <a:schemeClr val="accent3"/>
                </a:solidFill>
                <a:latin typeface="Average"/>
                <a:ea typeface="Average"/>
                <a:cs typeface="Average"/>
                <a:sym typeface="Average"/>
              </a:rPr>
              <a:t>Higher income will be associated with </a:t>
            </a:r>
            <a:r>
              <a:rPr b="1" lang="en" sz="1800">
                <a:solidFill>
                  <a:schemeClr val="accent3"/>
                </a:solidFill>
                <a:latin typeface="Average"/>
                <a:ea typeface="Average"/>
                <a:cs typeface="Average"/>
                <a:sym typeface="Average"/>
              </a:rPr>
              <a:t>higher life evaluation</a:t>
            </a:r>
            <a:r>
              <a:rPr lang="en" sz="1800">
                <a:solidFill>
                  <a:schemeClr val="accent3"/>
                </a:solidFill>
                <a:latin typeface="Average"/>
                <a:ea typeface="Average"/>
                <a:cs typeface="Average"/>
                <a:sym typeface="Average"/>
              </a:rPr>
              <a:t>. (how people rate </a:t>
            </a:r>
            <a:r>
              <a:rPr lang="en" sz="1800">
                <a:solidFill>
                  <a:schemeClr val="accent3"/>
                </a:solidFill>
                <a:latin typeface="Average"/>
                <a:ea typeface="Average"/>
                <a:cs typeface="Average"/>
                <a:sym typeface="Average"/>
              </a:rPr>
              <a:t>their</a:t>
            </a:r>
            <a:r>
              <a:rPr lang="en" sz="1800">
                <a:solidFill>
                  <a:schemeClr val="accent3"/>
                </a:solidFill>
                <a:latin typeface="Average"/>
                <a:ea typeface="Average"/>
                <a:cs typeface="Average"/>
                <a:sym typeface="Average"/>
              </a:rPr>
              <a:t> overall life).</a:t>
            </a:r>
            <a:endParaRPr sz="1800">
              <a:solidFill>
                <a:schemeClr val="accent3"/>
              </a:solidFill>
              <a:latin typeface="Average"/>
              <a:ea typeface="Average"/>
              <a:cs typeface="Average"/>
              <a:sym typeface="Average"/>
            </a:endParaRPr>
          </a:p>
          <a:p>
            <a:pPr indent="0" lvl="0" marL="0" rtl="0" algn="l">
              <a:spcBef>
                <a:spcPts val="0"/>
              </a:spcBef>
              <a:spcAft>
                <a:spcPts val="0"/>
              </a:spcAft>
              <a:buNone/>
            </a:pPr>
            <a:r>
              <a:t/>
            </a:r>
            <a:endParaRPr/>
          </a:p>
        </p:txBody>
      </p:sp>
      <p:sp>
        <p:nvSpPr>
          <p:cNvPr id="75" name="Google Shape;75;p15"/>
          <p:cNvSpPr txBox="1"/>
          <p:nvPr>
            <p:ph idx="1" type="body"/>
          </p:nvPr>
        </p:nvSpPr>
        <p:spPr>
          <a:xfrm>
            <a:off x="311700" y="2742075"/>
            <a:ext cx="8520600" cy="1826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3000">
                <a:solidFill>
                  <a:schemeClr val="dk1"/>
                </a:solidFill>
                <a:latin typeface="Oswald"/>
                <a:ea typeface="Oswald"/>
                <a:cs typeface="Oswald"/>
                <a:sym typeface="Oswald"/>
              </a:rPr>
              <a:t>Hypothesis 2</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a:t>Higher income will improve </a:t>
            </a:r>
            <a:r>
              <a:rPr b="1" lang="en"/>
              <a:t>emotional well-being</a:t>
            </a:r>
            <a:r>
              <a:rPr lang="en"/>
              <a:t>, but only </a:t>
            </a:r>
            <a:r>
              <a:rPr b="1" lang="en"/>
              <a:t>up to a certain level</a:t>
            </a:r>
            <a:r>
              <a:rPr lang="en"/>
              <a:t>,</a:t>
            </a:r>
            <a:endParaRPr/>
          </a:p>
          <a:p>
            <a:pPr indent="0" lvl="0" marL="0" rtl="0" algn="l">
              <a:spcBef>
                <a:spcPts val="1200"/>
              </a:spcBef>
              <a:spcAft>
                <a:spcPts val="1200"/>
              </a:spcAft>
              <a:buNone/>
            </a:pPr>
            <a:r>
              <a:rPr lang="en"/>
              <a:t>after which additional income will </a:t>
            </a:r>
            <a:r>
              <a:rPr b="1" lang="en"/>
              <a:t>no longer increase daily happiness</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29262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Surveying </a:t>
            </a:r>
            <a:endParaRPr/>
          </a:p>
        </p:txBody>
      </p:sp>
      <p:sp>
        <p:nvSpPr>
          <p:cNvPr id="81" name="Google Shape;81;p16"/>
          <p:cNvSpPr txBox="1"/>
          <p:nvPr>
            <p:ph idx="1" type="body"/>
          </p:nvPr>
        </p:nvSpPr>
        <p:spPr>
          <a:xfrm>
            <a:off x="311700" y="865325"/>
            <a:ext cx="8520600" cy="4153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Very large dataset: more than 450,000 </a:t>
            </a:r>
            <a:r>
              <a:rPr lang="en"/>
              <a:t>respondents</a:t>
            </a:r>
            <a:r>
              <a:rPr lang="en"/>
              <a:t> </a:t>
            </a:r>
            <a:endParaRPr/>
          </a:p>
          <a:p>
            <a:pPr indent="-317500" lvl="1" marL="914400" rtl="0" algn="l">
              <a:spcBef>
                <a:spcPts val="0"/>
              </a:spcBef>
              <a:spcAft>
                <a:spcPts val="0"/>
              </a:spcAft>
              <a:buSzPts val="1400"/>
              <a:buChar char="○"/>
            </a:pPr>
            <a:r>
              <a:rPr lang="en"/>
              <a:t>31% of </a:t>
            </a:r>
            <a:r>
              <a:rPr lang="en"/>
              <a:t>eligible</a:t>
            </a:r>
            <a:r>
              <a:rPr lang="en"/>
              <a:t> candidates agreed to be interviewed; 90% of the 31% completed the survey </a:t>
            </a:r>
            <a:endParaRPr/>
          </a:p>
          <a:p>
            <a:pPr indent="-342900" lvl="0" marL="457200" rtl="0" algn="l">
              <a:spcBef>
                <a:spcPts val="0"/>
              </a:spcBef>
              <a:spcAft>
                <a:spcPts val="0"/>
              </a:spcAft>
              <a:buSzPts val="1800"/>
              <a:buChar char="●"/>
            </a:pPr>
            <a:r>
              <a:rPr lang="en"/>
              <a:t>Up to 5 callbacks if no answer the first time</a:t>
            </a:r>
            <a:endParaRPr/>
          </a:p>
          <a:p>
            <a:pPr indent="-342900" lvl="0" marL="457200" rtl="0" algn="l">
              <a:spcBef>
                <a:spcPts val="0"/>
              </a:spcBef>
              <a:spcAft>
                <a:spcPts val="0"/>
              </a:spcAft>
              <a:buSzPts val="1800"/>
              <a:buChar char="●"/>
            </a:pPr>
            <a:r>
              <a:rPr lang="en"/>
              <a:t>Dual frame random digit dialing with phone numbers from all 50 states</a:t>
            </a:r>
            <a:endParaRPr/>
          </a:p>
          <a:p>
            <a:pPr indent="-317500" lvl="1" marL="914400" rtl="0" algn="l">
              <a:spcBef>
                <a:spcPts val="0"/>
              </a:spcBef>
              <a:spcAft>
                <a:spcPts val="0"/>
              </a:spcAft>
              <a:buSzPts val="1400"/>
              <a:buChar char="○"/>
            </a:pPr>
            <a:r>
              <a:rPr lang="en"/>
              <a:t>Cell phones and landlines were included; more response from landlines than cell phones</a:t>
            </a:r>
            <a:endParaRPr/>
          </a:p>
          <a:p>
            <a:pPr indent="-342900" lvl="0" marL="457200" rtl="0" algn="l">
              <a:spcBef>
                <a:spcPts val="0"/>
              </a:spcBef>
              <a:spcAft>
                <a:spcPts val="0"/>
              </a:spcAft>
              <a:buSzPts val="1800"/>
              <a:buChar char="●"/>
            </a:pPr>
            <a:r>
              <a:rPr lang="en"/>
              <a:t>Interviews in English and Spanish </a:t>
            </a:r>
            <a:endParaRPr/>
          </a:p>
          <a:p>
            <a:pPr indent="-342900" lvl="0" marL="457200" rtl="0" algn="l">
              <a:spcBef>
                <a:spcPts val="0"/>
              </a:spcBef>
              <a:spcAft>
                <a:spcPts val="0"/>
              </a:spcAft>
              <a:buSzPts val="1800"/>
              <a:buChar char="●"/>
            </a:pPr>
            <a:r>
              <a:rPr lang="en"/>
              <a:t>Gallup-Healthways Wellbeing Index was used to conduct a daily survey of approximately 1000 U.S adults each day in all 50 states</a:t>
            </a:r>
            <a:endParaRPr/>
          </a:p>
          <a:p>
            <a:pPr indent="-317500" lvl="1" marL="914400" rtl="0" algn="l">
              <a:spcBef>
                <a:spcPts val="0"/>
              </a:spcBef>
              <a:spcAft>
                <a:spcPts val="0"/>
              </a:spcAft>
              <a:buSzPts val="1400"/>
              <a:buChar char="○"/>
            </a:pPr>
            <a:r>
              <a:rPr lang="en"/>
              <a:t>Asked about emotions, life satisfaction, health/lifestyle, work environment, fiances, social relationships in addition to other background variables </a:t>
            </a:r>
            <a:endParaRPr/>
          </a:p>
          <a:p>
            <a:pPr indent="-342900" lvl="0" marL="457200" rtl="0" algn="l">
              <a:spcBef>
                <a:spcPts val="0"/>
              </a:spcBef>
              <a:spcAft>
                <a:spcPts val="0"/>
              </a:spcAft>
              <a:buSzPts val="1800"/>
              <a:buChar char="●"/>
            </a:pPr>
            <a:r>
              <a:rPr lang="en"/>
              <a:t>Life evaluation questions were asked using Cantril’s Self Anchoring Scale </a:t>
            </a:r>
            <a:endParaRPr/>
          </a:p>
          <a:p>
            <a:pPr indent="-317500" lvl="1" marL="914400" rtl="0" algn="l">
              <a:spcBef>
                <a:spcPts val="0"/>
              </a:spcBef>
              <a:spcAft>
                <a:spcPts val="0"/>
              </a:spcAft>
              <a:buSzPts val="1400"/>
              <a:buChar char="○"/>
            </a:pPr>
            <a:r>
              <a:rPr lang="en"/>
              <a:t>“Imagine a ladder, 0 is the worst life could be for you and 10 is the best, what step are you on”</a:t>
            </a:r>
            <a:endParaRPr/>
          </a:p>
          <a:p>
            <a:pPr indent="-342900" lvl="0" marL="457200" rtl="0" algn="l">
              <a:spcBef>
                <a:spcPts val="0"/>
              </a:spcBef>
              <a:spcAft>
                <a:spcPts val="0"/>
              </a:spcAft>
              <a:buSzPts val="1800"/>
              <a:buChar char="●"/>
            </a:pPr>
            <a:r>
              <a:rPr lang="en"/>
              <a:t>Yes/no questions were asked to assess emotional wellbeing</a:t>
            </a:r>
            <a:endParaRPr/>
          </a:p>
          <a:p>
            <a:pPr indent="-317500" lvl="1" marL="914400" rtl="0" algn="l">
              <a:spcBef>
                <a:spcPts val="0"/>
              </a:spcBef>
              <a:spcAft>
                <a:spcPts val="0"/>
              </a:spcAft>
              <a:buSzPts val="1400"/>
              <a:buChar char="○"/>
            </a:pPr>
            <a:r>
              <a:rPr lang="en"/>
              <a:t>Enjoyment, happiness, smiling/laughter, stress, worry, sadness, anger </a:t>
            </a:r>
            <a:endParaRPr/>
          </a:p>
          <a:p>
            <a:pPr indent="-317500" lvl="1" marL="914400" rtl="0" algn="l">
              <a:spcBef>
                <a:spcPts val="0"/>
              </a:spcBef>
              <a:spcAft>
                <a:spcPts val="0"/>
              </a:spcAft>
              <a:buSzPts val="1400"/>
              <a:buChar char="○"/>
            </a:pPr>
            <a:r>
              <a:rPr lang="en"/>
              <a:t>The answers to these questions created positive affect, blue affect and stress affect</a:t>
            </a:r>
            <a:endParaRPr/>
          </a:p>
          <a:p>
            <a:pPr indent="-342900" lvl="0" marL="457200" rtl="0" algn="l">
              <a:spcBef>
                <a:spcPts val="0"/>
              </a:spcBef>
              <a:spcAft>
                <a:spcPts val="0"/>
              </a:spcAft>
              <a:buSzPts val="1800"/>
              <a:buChar char="●"/>
            </a:pPr>
            <a:r>
              <a:rPr lang="en"/>
              <a:t>Emotions were controlled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Income </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These income categories: 0, &lt;$60, and $60–499/month were d</a:t>
            </a:r>
            <a:r>
              <a:rPr lang="en"/>
              <a:t>eleted due to the unrealistic nature</a:t>
            </a:r>
            <a:endParaRPr/>
          </a:p>
          <a:p>
            <a:pPr indent="-342900" lvl="0" marL="457200" rtl="0" algn="l">
              <a:spcBef>
                <a:spcPts val="0"/>
              </a:spcBef>
              <a:spcAft>
                <a:spcPts val="0"/>
              </a:spcAft>
              <a:buSzPts val="1800"/>
              <a:buChar char="●"/>
            </a:pPr>
            <a:r>
              <a:rPr lang="en"/>
              <a:t>No reported income was also </a:t>
            </a:r>
            <a:r>
              <a:rPr lang="en"/>
              <a:t>deleted</a:t>
            </a:r>
            <a:r>
              <a:rPr lang="en"/>
              <a:t> </a:t>
            </a:r>
            <a:endParaRPr/>
          </a:p>
          <a:p>
            <a:pPr indent="-342900" lvl="0" marL="457200" rtl="0" algn="l">
              <a:spcBef>
                <a:spcPts val="0"/>
              </a:spcBef>
              <a:spcAft>
                <a:spcPts val="0"/>
              </a:spcAft>
              <a:buSzPts val="1800"/>
              <a:buChar char="●"/>
            </a:pPr>
            <a:r>
              <a:rPr lang="en"/>
              <a:t>Log income was </a:t>
            </a:r>
            <a:r>
              <a:rPr lang="en"/>
              <a:t>regressed</a:t>
            </a:r>
            <a:r>
              <a:rPr lang="en"/>
              <a:t> based on indicators for congressional district, education, sex, age, age squared, race categories, marital status categories, and height </a:t>
            </a:r>
            <a:endParaRPr/>
          </a:p>
          <a:p>
            <a:pPr indent="-317500" lvl="1" marL="914400" rtl="0" algn="l">
              <a:spcBef>
                <a:spcPts val="0"/>
              </a:spcBef>
              <a:spcAft>
                <a:spcPts val="0"/>
              </a:spcAft>
              <a:buSzPts val="1400"/>
              <a:buChar char="○"/>
            </a:pPr>
            <a:r>
              <a:rPr lang="en"/>
              <a:t>Given these categories, regression explain 37% of </a:t>
            </a:r>
            <a:r>
              <a:rPr lang="en"/>
              <a:t>variance</a:t>
            </a:r>
            <a:r>
              <a:rPr lang="en"/>
              <a:t>, if participants were 2.5x the Root Mean Square Error (RMSE) they were removed </a:t>
            </a:r>
            <a:r>
              <a:rPr lang="en"/>
              <a:t>because</a:t>
            </a:r>
            <a:r>
              <a:rPr lang="en"/>
              <a:t> they were either an outlier or an </a:t>
            </a:r>
            <a:r>
              <a:rPr lang="en"/>
              <a:t>implausible</a:t>
            </a:r>
            <a:r>
              <a:rPr lang="en"/>
              <a:t> income report </a:t>
            </a:r>
            <a:endParaRPr/>
          </a:p>
          <a:p>
            <a:pPr indent="-342900" lvl="0" marL="457200" rtl="0" algn="l">
              <a:spcBef>
                <a:spcPts val="0"/>
              </a:spcBef>
              <a:spcAft>
                <a:spcPts val="0"/>
              </a:spcAft>
              <a:buSzPts val="1800"/>
              <a:buChar char="●"/>
            </a:pPr>
            <a:r>
              <a:rPr lang="en"/>
              <a:t>28% of the </a:t>
            </a:r>
            <a:r>
              <a:rPr lang="en"/>
              <a:t>original</a:t>
            </a:r>
            <a:r>
              <a:rPr lang="en"/>
              <a:t> dataset was removed from these cleaning </a:t>
            </a:r>
            <a:r>
              <a:rPr lang="en"/>
              <a:t>methods</a:t>
            </a:r>
            <a:endParaRPr/>
          </a:p>
          <a:p>
            <a:pPr indent="-342900" lvl="0" marL="457200" rtl="0" algn="l">
              <a:spcBef>
                <a:spcPts val="0"/>
              </a:spcBef>
              <a:spcAft>
                <a:spcPts val="0"/>
              </a:spcAft>
              <a:buSzPts val="1800"/>
              <a:buChar char="●"/>
            </a:pPr>
            <a:r>
              <a:rPr lang="en"/>
              <a:t>Income groups were as follows: &lt;$60k, $60–90k, $90–120k, $120k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t>
            </a:r>
            <a:r>
              <a:rPr lang="en"/>
              <a:t>esults</a:t>
            </a:r>
            <a:endParaRPr/>
          </a:p>
        </p:txBody>
      </p:sp>
      <p:sp>
        <p:nvSpPr>
          <p:cNvPr id="93" name="Google Shape;93;p18"/>
          <p:cNvSpPr txBox="1"/>
          <p:nvPr>
            <p:ph idx="1" type="body"/>
          </p:nvPr>
        </p:nvSpPr>
        <p:spPr>
          <a:xfrm>
            <a:off x="311700" y="1082675"/>
            <a:ext cx="4523400" cy="3899100"/>
          </a:xfrm>
          <a:prstGeom prst="rect">
            <a:avLst/>
          </a:prstGeom>
        </p:spPr>
        <p:txBody>
          <a:bodyPr anchorCtr="0" anchor="t" bIns="91425" lIns="91425" spcFirstLastPara="1" rIns="91425" wrap="square" tIns="91425">
            <a:noAutofit/>
          </a:bodyPr>
          <a:lstStyle/>
          <a:p>
            <a:pPr indent="-301906" lvl="0" marL="457200" rtl="0" algn="l">
              <a:lnSpc>
                <a:spcPct val="140000"/>
              </a:lnSpc>
              <a:spcBef>
                <a:spcPts val="600"/>
              </a:spcBef>
              <a:spcAft>
                <a:spcPts val="0"/>
              </a:spcAft>
              <a:buClr>
                <a:schemeClr val="dk1"/>
              </a:buClr>
              <a:buSzPts val="1154"/>
              <a:buFont typeface="Microsoft Yahei"/>
              <a:buAutoNum type="arabicPeriod"/>
            </a:pPr>
            <a:r>
              <a:rPr lang="en" sz="1254">
                <a:solidFill>
                  <a:schemeClr val="dk1"/>
                </a:solidFill>
                <a:latin typeface="Microsoft Yahei"/>
                <a:ea typeface="Microsoft Yahei"/>
                <a:cs typeface="Microsoft Yahei"/>
                <a:sym typeface="Microsoft Yahei"/>
              </a:rPr>
              <a:t>Subjective well-being can be clearly divided into two categories:</a:t>
            </a:r>
            <a:r>
              <a:rPr lang="en" sz="1154">
                <a:solidFill>
                  <a:schemeClr val="dk1"/>
                </a:solidFill>
                <a:latin typeface="Microsoft Yahei"/>
                <a:ea typeface="Microsoft Yahei"/>
                <a:cs typeface="Microsoft Yahei"/>
                <a:sym typeface="Microsoft Yahei"/>
              </a:rPr>
              <a:t> </a:t>
            </a:r>
            <a:r>
              <a:rPr b="1" lang="en" sz="1054">
                <a:solidFill>
                  <a:schemeClr val="dk1"/>
                </a:solidFill>
                <a:latin typeface="Microsoft Yahei"/>
                <a:ea typeface="Microsoft Yahei"/>
                <a:cs typeface="Microsoft Yahei"/>
                <a:sym typeface="Microsoft Yahei"/>
              </a:rPr>
              <a:t>emotional well-being</a:t>
            </a:r>
            <a:r>
              <a:rPr lang="en" sz="1054">
                <a:solidFill>
                  <a:schemeClr val="dk1"/>
                </a:solidFill>
                <a:latin typeface="Microsoft Yahei"/>
                <a:ea typeface="Microsoft Yahei"/>
                <a:cs typeface="Microsoft Yahei"/>
                <a:sym typeface="Microsoft Yahei"/>
              </a:rPr>
              <a:t> and </a:t>
            </a:r>
            <a:r>
              <a:rPr b="1" lang="en" sz="1054">
                <a:solidFill>
                  <a:schemeClr val="dk1"/>
                </a:solidFill>
                <a:latin typeface="Microsoft Yahei"/>
                <a:ea typeface="Microsoft Yahei"/>
                <a:cs typeface="Microsoft Yahei"/>
                <a:sym typeface="Microsoft Yahei"/>
              </a:rPr>
              <a:t>life evaluation</a:t>
            </a:r>
            <a:r>
              <a:rPr lang="en" sz="1054">
                <a:solidFill>
                  <a:schemeClr val="dk1"/>
                </a:solidFill>
                <a:latin typeface="Microsoft Yahei"/>
                <a:ea typeface="Microsoft Yahei"/>
                <a:cs typeface="Microsoft Yahei"/>
                <a:sym typeface="Microsoft Yahei"/>
              </a:rPr>
              <a:t> . </a:t>
            </a:r>
            <a:endParaRPr sz="1054">
              <a:solidFill>
                <a:schemeClr val="dk1"/>
              </a:solidFill>
              <a:latin typeface="Microsoft Yahei"/>
              <a:ea typeface="Microsoft Yahei"/>
              <a:cs typeface="Microsoft Yahei"/>
              <a:sym typeface="Microsoft Yahei"/>
            </a:endParaRPr>
          </a:p>
          <a:p>
            <a:pPr indent="-301906" lvl="0" marL="457200" rtl="0" algn="l">
              <a:lnSpc>
                <a:spcPct val="140000"/>
              </a:lnSpc>
              <a:spcBef>
                <a:spcPts val="0"/>
              </a:spcBef>
              <a:spcAft>
                <a:spcPts val="0"/>
              </a:spcAft>
              <a:buClr>
                <a:schemeClr val="dk1"/>
              </a:buClr>
              <a:buSzPts val="1154"/>
              <a:buFont typeface="Microsoft Yahei"/>
              <a:buAutoNum type="arabicPeriod"/>
            </a:pPr>
            <a:r>
              <a:rPr lang="en" sz="1254">
                <a:solidFill>
                  <a:schemeClr val="dk1"/>
                </a:solidFill>
                <a:latin typeface="Microsoft Yahei"/>
                <a:ea typeface="Microsoft Yahei"/>
                <a:cs typeface="Microsoft Yahei"/>
                <a:sym typeface="Microsoft Yahei"/>
              </a:rPr>
              <a:t>The impact of income on emotional well-being has a </a:t>
            </a:r>
            <a:r>
              <a:rPr b="1" lang="en" sz="1254">
                <a:solidFill>
                  <a:schemeClr val="dk1"/>
                </a:solidFill>
                <a:latin typeface="Microsoft Yahei"/>
                <a:ea typeface="Microsoft Yahei"/>
                <a:cs typeface="Microsoft Yahei"/>
                <a:sym typeface="Microsoft Yahei"/>
              </a:rPr>
              <a:t>satiation threshold</a:t>
            </a:r>
            <a:r>
              <a:rPr lang="en" sz="1254">
                <a:solidFill>
                  <a:schemeClr val="dk1"/>
                </a:solidFill>
                <a:latin typeface="Microsoft Yahei"/>
                <a:ea typeface="Microsoft Yahei"/>
                <a:cs typeface="Microsoft Yahei"/>
                <a:sym typeface="Microsoft Yahei"/>
              </a:rPr>
              <a:t>:</a:t>
            </a:r>
            <a:r>
              <a:rPr lang="en" sz="1154">
                <a:solidFill>
                  <a:schemeClr val="dk1"/>
                </a:solidFill>
                <a:latin typeface="Microsoft Yahei"/>
                <a:ea typeface="Microsoft Yahei"/>
                <a:cs typeface="Microsoft Yahei"/>
                <a:sym typeface="Microsoft Yahei"/>
              </a:rPr>
              <a:t> </a:t>
            </a:r>
            <a:r>
              <a:rPr lang="en" sz="1054">
                <a:solidFill>
                  <a:schemeClr val="dk1"/>
                </a:solidFill>
                <a:latin typeface="Microsoft Yahei"/>
                <a:ea typeface="Microsoft Yahei"/>
                <a:cs typeface="Microsoft Yahei"/>
                <a:sym typeface="Microsoft Yahei"/>
              </a:rPr>
              <a:t>Emotional well-being increases with income but peaks at an annual income of approximately $75,000. Beyond this threshold, no significant improvements are seen. Notably, the satiation point for stress is lower, at around $60,000 annually.</a:t>
            </a:r>
            <a:endParaRPr sz="1054">
              <a:solidFill>
                <a:schemeClr val="dk1"/>
              </a:solidFill>
              <a:latin typeface="Microsoft Yahei"/>
              <a:ea typeface="Microsoft Yahei"/>
              <a:cs typeface="Microsoft Yahei"/>
              <a:sym typeface="Microsoft Yahei"/>
            </a:endParaRPr>
          </a:p>
          <a:p>
            <a:pPr indent="-301906" lvl="0" marL="457200" rtl="0" algn="l">
              <a:lnSpc>
                <a:spcPct val="140000"/>
              </a:lnSpc>
              <a:spcBef>
                <a:spcPts val="0"/>
              </a:spcBef>
              <a:spcAft>
                <a:spcPts val="0"/>
              </a:spcAft>
              <a:buClr>
                <a:schemeClr val="dk1"/>
              </a:buClr>
              <a:buSzPts val="1154"/>
              <a:buFont typeface="Microsoft Yahei"/>
              <a:buAutoNum type="arabicPeriod"/>
            </a:pPr>
            <a:r>
              <a:rPr lang="en" sz="1254">
                <a:solidFill>
                  <a:schemeClr val="dk1"/>
                </a:solidFill>
                <a:latin typeface="Microsoft Yahei"/>
                <a:ea typeface="Microsoft Yahei"/>
                <a:cs typeface="Microsoft Yahei"/>
                <a:sym typeface="Microsoft Yahei"/>
              </a:rPr>
              <a:t>Different factors have varying weight in influencing the two types of well-being: </a:t>
            </a:r>
            <a:r>
              <a:rPr lang="en" sz="1054">
                <a:solidFill>
                  <a:schemeClr val="dk1"/>
                </a:solidFill>
                <a:latin typeface="Microsoft Yahei"/>
                <a:ea typeface="Microsoft Yahei"/>
                <a:cs typeface="Microsoft Yahei"/>
                <a:sym typeface="Microsoft Yahei"/>
              </a:rPr>
              <a:t>Factors such as health conditions, loneliness, smoking, and caregiving have stronger predictive power for emotional well-being; in contrast, income and education level are more closely associated with life evaluation .</a:t>
            </a:r>
            <a:endParaRPr sz="100">
              <a:solidFill>
                <a:schemeClr val="dk1"/>
              </a:solidFill>
              <a:latin typeface="Microsoft Yahei"/>
              <a:ea typeface="Microsoft Yahei"/>
              <a:cs typeface="Microsoft Yahei"/>
              <a:sym typeface="Microsoft Yahei"/>
            </a:endParaRPr>
          </a:p>
          <a:p>
            <a:pPr indent="0" lvl="0" marL="457200" rtl="0" algn="l">
              <a:lnSpc>
                <a:spcPct val="140000"/>
              </a:lnSpc>
              <a:spcBef>
                <a:spcPts val="1200"/>
              </a:spcBef>
              <a:spcAft>
                <a:spcPts val="0"/>
              </a:spcAft>
              <a:buNone/>
            </a:pPr>
            <a:r>
              <a:t/>
            </a:r>
            <a:endParaRPr sz="1054">
              <a:solidFill>
                <a:schemeClr val="dk1"/>
              </a:solidFill>
              <a:latin typeface="Microsoft Yahei"/>
              <a:ea typeface="Microsoft Yahei"/>
              <a:cs typeface="Microsoft Yahei"/>
              <a:sym typeface="Microsoft Yahei"/>
            </a:endParaRPr>
          </a:p>
          <a:p>
            <a:pPr indent="0" lvl="0" marL="0" rtl="0" algn="l">
              <a:lnSpc>
                <a:spcPct val="150000"/>
              </a:lnSpc>
              <a:spcBef>
                <a:spcPts val="1200"/>
              </a:spcBef>
              <a:spcAft>
                <a:spcPts val="0"/>
              </a:spcAft>
              <a:buNone/>
            </a:pPr>
            <a:r>
              <a:rPr lang="en" sz="1254">
                <a:solidFill>
                  <a:schemeClr val="dk1"/>
                </a:solidFill>
                <a:latin typeface="Microsoft Yahei"/>
                <a:ea typeface="Microsoft Yahei"/>
                <a:cs typeface="Microsoft Yahei"/>
                <a:sym typeface="Microsoft Yahei"/>
              </a:rPr>
              <a:t>  </a:t>
            </a:r>
            <a:endParaRPr sz="200">
              <a:solidFill>
                <a:schemeClr val="dk1"/>
              </a:solidFill>
              <a:latin typeface="Microsoft Yahei"/>
              <a:ea typeface="Microsoft Yahei"/>
              <a:cs typeface="Microsoft Yahei"/>
              <a:sym typeface="Microsoft Yahei"/>
            </a:endParaRPr>
          </a:p>
          <a:p>
            <a:pPr indent="0" lvl="0" marL="0" rtl="0" algn="l">
              <a:lnSpc>
                <a:spcPct val="105000"/>
              </a:lnSpc>
              <a:spcBef>
                <a:spcPts val="1200"/>
              </a:spcBef>
              <a:spcAft>
                <a:spcPts val="1200"/>
              </a:spcAft>
              <a:buSzPts val="358"/>
              <a:buNone/>
            </a:pPr>
            <a:r>
              <a:t/>
            </a:r>
            <a:endParaRPr sz="685"/>
          </a:p>
        </p:txBody>
      </p:sp>
      <p:pic>
        <p:nvPicPr>
          <p:cNvPr id="94" name="Google Shape;94;p18"/>
          <p:cNvPicPr preferRelativeResize="0"/>
          <p:nvPr/>
        </p:nvPicPr>
        <p:blipFill>
          <a:blip r:embed="rId3">
            <a:alphaModFix/>
          </a:blip>
          <a:stretch>
            <a:fillRect/>
          </a:stretch>
        </p:blipFill>
        <p:spPr>
          <a:xfrm>
            <a:off x="5027875" y="1053238"/>
            <a:ext cx="4007350" cy="3957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Results</a:t>
            </a:r>
            <a:endParaRPr/>
          </a:p>
        </p:txBody>
      </p:sp>
      <p:sp>
        <p:nvSpPr>
          <p:cNvPr id="100" name="Google Shape;100;p19"/>
          <p:cNvSpPr txBox="1"/>
          <p:nvPr>
            <p:ph idx="1" type="body"/>
          </p:nvPr>
        </p:nvSpPr>
        <p:spPr>
          <a:xfrm>
            <a:off x="311700" y="1152475"/>
            <a:ext cx="5751300" cy="36321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600"/>
              </a:spcBef>
              <a:spcAft>
                <a:spcPts val="0"/>
              </a:spcAft>
              <a:buNone/>
            </a:pPr>
            <a:r>
              <a:t/>
            </a:r>
            <a:endParaRPr sz="4268">
              <a:solidFill>
                <a:schemeClr val="dk1"/>
              </a:solidFill>
              <a:latin typeface="Microsoft Yahei"/>
              <a:ea typeface="Microsoft Yahei"/>
              <a:cs typeface="Microsoft Yahei"/>
              <a:sym typeface="Microsoft Yahei"/>
            </a:endParaRPr>
          </a:p>
          <a:p>
            <a:pPr indent="0" lvl="0" marL="0" rtl="0" algn="l">
              <a:lnSpc>
                <a:spcPct val="150000"/>
              </a:lnSpc>
              <a:spcBef>
                <a:spcPts val="1200"/>
              </a:spcBef>
              <a:spcAft>
                <a:spcPts val="0"/>
              </a:spcAft>
              <a:buNone/>
            </a:pPr>
            <a:r>
              <a:rPr lang="en" sz="4668">
                <a:solidFill>
                  <a:schemeClr val="dk1"/>
                </a:solidFill>
                <a:latin typeface="Microsoft Yahei"/>
                <a:ea typeface="Microsoft Yahei"/>
                <a:cs typeface="Microsoft Yahei"/>
                <a:sym typeface="Microsoft Yahei"/>
              </a:rPr>
              <a:t>4.  Low income </a:t>
            </a:r>
            <a:r>
              <a:rPr b="1" lang="en" sz="4668">
                <a:solidFill>
                  <a:schemeClr val="dk1"/>
                </a:solidFill>
                <a:latin typeface="Microsoft Yahei"/>
                <a:ea typeface="Microsoft Yahei"/>
                <a:cs typeface="Microsoft Yahei"/>
                <a:sym typeface="Microsoft Yahei"/>
              </a:rPr>
              <a:t>exacerbates emotional distress from negative events</a:t>
            </a:r>
            <a:r>
              <a:rPr lang="en" sz="4668">
                <a:solidFill>
                  <a:schemeClr val="dk1"/>
                </a:solidFill>
                <a:latin typeface="Microsoft Yahei"/>
                <a:ea typeface="Microsoft Yahei"/>
                <a:cs typeface="Microsoft Yahei"/>
                <a:sym typeface="Microsoft Yahei"/>
              </a:rPr>
              <a:t>: </a:t>
            </a:r>
            <a:r>
              <a:rPr lang="en" sz="4268">
                <a:solidFill>
                  <a:schemeClr val="dk1"/>
                </a:solidFill>
                <a:latin typeface="Microsoft Yahei"/>
                <a:ea typeface="Microsoft Yahei"/>
                <a:cs typeface="Microsoft Yahei"/>
                <a:sym typeface="Microsoft Yahei"/>
              </a:rPr>
              <a:t>For adverse experiences like divorce, illness, and loneliness, low-income groups experience significantly stronger negative emotions than high-income groups . Poverty amplifies the emotional impact of life hardships.</a:t>
            </a:r>
            <a:endParaRPr sz="4268">
              <a:solidFill>
                <a:schemeClr val="dk1"/>
              </a:solidFill>
              <a:latin typeface="Microsoft Yahei"/>
              <a:ea typeface="Microsoft Yahei"/>
              <a:cs typeface="Microsoft Yahei"/>
              <a:sym typeface="Microsoft Yahei"/>
            </a:endParaRPr>
          </a:p>
          <a:p>
            <a:pPr indent="0" lvl="0" marL="0" rtl="0" algn="l">
              <a:lnSpc>
                <a:spcPct val="150000"/>
              </a:lnSpc>
              <a:spcBef>
                <a:spcPts val="1200"/>
              </a:spcBef>
              <a:spcAft>
                <a:spcPts val="0"/>
              </a:spcAft>
              <a:buNone/>
            </a:pPr>
            <a:r>
              <a:rPr lang="en" sz="4668">
                <a:solidFill>
                  <a:schemeClr val="dk1"/>
                </a:solidFill>
                <a:latin typeface="Microsoft Yahei"/>
                <a:ea typeface="Microsoft Yahei"/>
                <a:cs typeface="Microsoft Yahei"/>
                <a:sym typeface="Microsoft Yahei"/>
              </a:rPr>
              <a:t>5.  Demographic characteristics also influence well-being: </a:t>
            </a:r>
            <a:r>
              <a:rPr lang="en" sz="4268">
                <a:solidFill>
                  <a:schemeClr val="dk1"/>
                </a:solidFill>
                <a:latin typeface="Microsoft Yahei"/>
                <a:ea typeface="Microsoft Yahei"/>
                <a:cs typeface="Microsoft Yahei"/>
                <a:sym typeface="Microsoft Yahei"/>
              </a:rPr>
              <a:t>Older adults have higher emotional well-being (especially reduced stress and anger); women report slightly higher positive affect and life evaluation but also more negative emotions and stress; religious belief enhances positive affect and reduces stress but has no significant effect on alleviating sadness or worry.</a:t>
            </a:r>
            <a:endParaRPr sz="4268">
              <a:solidFill>
                <a:schemeClr val="dk1"/>
              </a:solidFill>
              <a:latin typeface="Microsoft Yahei"/>
              <a:ea typeface="Microsoft Yahei"/>
              <a:cs typeface="Microsoft Yahei"/>
              <a:sym typeface="Microsoft Yahei"/>
            </a:endParaRPr>
          </a:p>
          <a:p>
            <a:pPr indent="0" lvl="0" marL="0" rtl="0" algn="l">
              <a:lnSpc>
                <a:spcPct val="150000"/>
              </a:lnSpc>
              <a:spcBef>
                <a:spcPts val="1200"/>
              </a:spcBef>
              <a:spcAft>
                <a:spcPts val="0"/>
              </a:spcAft>
              <a:buNone/>
            </a:pPr>
            <a:r>
              <a:t/>
            </a:r>
            <a:endParaRPr sz="800">
              <a:solidFill>
                <a:schemeClr val="dk1"/>
              </a:solidFill>
              <a:latin typeface="Microsoft Yahei"/>
              <a:ea typeface="Microsoft Yahei"/>
              <a:cs typeface="Microsoft Yahei"/>
              <a:sym typeface="Microsoft Yahei"/>
            </a:endParaRPr>
          </a:p>
          <a:p>
            <a:pPr indent="0" lvl="0" marL="457200" rtl="0" algn="l">
              <a:lnSpc>
                <a:spcPct val="150000"/>
              </a:lnSpc>
              <a:spcBef>
                <a:spcPts val="1200"/>
              </a:spcBef>
              <a:spcAft>
                <a:spcPts val="0"/>
              </a:spcAft>
              <a:buNone/>
            </a:pPr>
            <a:r>
              <a:t/>
            </a:r>
            <a:endParaRPr sz="1200">
              <a:solidFill>
                <a:schemeClr val="dk1"/>
              </a:solidFill>
              <a:latin typeface="Microsoft Yahei"/>
              <a:ea typeface="Microsoft Yahei"/>
              <a:cs typeface="Microsoft Yahei"/>
              <a:sym typeface="Microsoft Yahei"/>
            </a:endParaRPr>
          </a:p>
          <a:p>
            <a:pPr indent="0" lvl="0" marL="457200" rtl="0" algn="l">
              <a:lnSpc>
                <a:spcPct val="150000"/>
              </a:lnSpc>
              <a:spcBef>
                <a:spcPts val="1200"/>
              </a:spcBef>
              <a:spcAft>
                <a:spcPts val="0"/>
              </a:spcAft>
              <a:buNone/>
            </a:pPr>
            <a:r>
              <a:t/>
            </a:r>
            <a:endParaRPr sz="1200">
              <a:solidFill>
                <a:schemeClr val="dk1"/>
              </a:solidFill>
              <a:latin typeface="Microsoft Yahei"/>
              <a:ea typeface="Microsoft Yahei"/>
              <a:cs typeface="Microsoft Yahei"/>
              <a:sym typeface="Microsoft Yahei"/>
            </a:endParaRPr>
          </a:p>
          <a:p>
            <a:pPr indent="0" lvl="0" marL="0" rtl="0" algn="l">
              <a:spcBef>
                <a:spcPts val="1200"/>
              </a:spcBef>
              <a:spcAft>
                <a:spcPts val="1200"/>
              </a:spcAft>
              <a:buNone/>
            </a:pPr>
            <a:r>
              <a:t/>
            </a:r>
            <a:endParaRPr/>
          </a:p>
        </p:txBody>
      </p:sp>
      <p:pic>
        <p:nvPicPr>
          <p:cNvPr id="101" name="Google Shape;101;p19"/>
          <p:cNvPicPr preferRelativeResize="0"/>
          <p:nvPr/>
        </p:nvPicPr>
        <p:blipFill>
          <a:blip r:embed="rId3">
            <a:alphaModFix/>
          </a:blip>
          <a:stretch>
            <a:fillRect/>
          </a:stretch>
        </p:blipFill>
        <p:spPr>
          <a:xfrm>
            <a:off x="6072250" y="3369675"/>
            <a:ext cx="2836775" cy="1279600"/>
          </a:xfrm>
          <a:prstGeom prst="rect">
            <a:avLst/>
          </a:prstGeom>
          <a:noFill/>
          <a:ln>
            <a:noFill/>
          </a:ln>
        </p:spPr>
      </p:pic>
      <p:pic>
        <p:nvPicPr>
          <p:cNvPr id="102" name="Google Shape;102;p19"/>
          <p:cNvPicPr preferRelativeResize="0"/>
          <p:nvPr/>
        </p:nvPicPr>
        <p:blipFill>
          <a:blip r:embed="rId4">
            <a:alphaModFix/>
          </a:blip>
          <a:stretch>
            <a:fillRect/>
          </a:stretch>
        </p:blipFill>
        <p:spPr>
          <a:xfrm>
            <a:off x="6072250" y="864175"/>
            <a:ext cx="2836776" cy="228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Takeaways</a:t>
            </a:r>
            <a:endParaRPr/>
          </a:p>
        </p:txBody>
      </p:sp>
      <p:sp>
        <p:nvSpPr>
          <p:cNvPr id="108" name="Google Shape;10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N = 450,000 US residents</a:t>
            </a:r>
            <a:endParaRPr/>
          </a:p>
          <a:p>
            <a:pPr indent="-325755" lvl="0" marL="457200" rtl="0" algn="l">
              <a:spcBef>
                <a:spcPts val="1200"/>
              </a:spcBef>
              <a:spcAft>
                <a:spcPts val="0"/>
              </a:spcAft>
              <a:buSzPct val="100000"/>
              <a:buChar char="-"/>
            </a:pPr>
            <a:r>
              <a:rPr b="1" lang="en"/>
              <a:t>$75,000 (in 2010 dollars) is the threshold for a marginal increase in happiness</a:t>
            </a:r>
            <a:r>
              <a:rPr lang="en"/>
              <a:t> (well-being).</a:t>
            </a:r>
            <a:endParaRPr/>
          </a:p>
          <a:p>
            <a:pPr indent="-304165" lvl="1" marL="914400" rtl="0" algn="l">
              <a:spcBef>
                <a:spcPts val="0"/>
              </a:spcBef>
              <a:spcAft>
                <a:spcPts val="0"/>
              </a:spcAft>
              <a:buSzPct val="100000"/>
              <a:buChar char="-"/>
            </a:pPr>
            <a:r>
              <a:rPr lang="en"/>
              <a:t>Above this level, more money does not make people experience more daily happiness or less daily misery. </a:t>
            </a:r>
            <a:endParaRPr/>
          </a:p>
          <a:p>
            <a:pPr indent="-325755" lvl="0" marL="457200" rtl="0" algn="l">
              <a:spcBef>
                <a:spcPts val="0"/>
              </a:spcBef>
              <a:spcAft>
                <a:spcPts val="0"/>
              </a:spcAft>
              <a:buSzPct val="100000"/>
              <a:buChar char="-"/>
            </a:pPr>
            <a:r>
              <a:rPr b="1" lang="en"/>
              <a:t>Emotional well-being</a:t>
            </a:r>
            <a:r>
              <a:rPr lang="en"/>
              <a:t> refers to the emotional quality of an individual’s everyday experience (intensity and frequency of emotions, hedonic well-being or experienced happiness). </a:t>
            </a:r>
            <a:endParaRPr/>
          </a:p>
          <a:p>
            <a:pPr indent="-325755" lvl="0" marL="457200" rtl="0" algn="l">
              <a:spcBef>
                <a:spcPts val="0"/>
              </a:spcBef>
              <a:spcAft>
                <a:spcPts val="0"/>
              </a:spcAft>
              <a:buSzPct val="100000"/>
              <a:buChar char="-"/>
            </a:pPr>
            <a:r>
              <a:rPr b="1" lang="en"/>
              <a:t>Life evaluation</a:t>
            </a:r>
            <a:r>
              <a:rPr lang="en"/>
              <a:t> refers to the thoughts that people have about their life when they think about it.</a:t>
            </a:r>
            <a:endParaRPr/>
          </a:p>
          <a:p>
            <a:pPr indent="-304165" lvl="1" marL="914400" rtl="0" algn="l">
              <a:spcBef>
                <a:spcPts val="0"/>
              </a:spcBef>
              <a:spcAft>
                <a:spcPts val="0"/>
              </a:spcAft>
              <a:buSzPct val="100000"/>
              <a:buChar char="-"/>
            </a:pPr>
            <a:r>
              <a:rPr lang="en"/>
              <a:t>This evaluation is non-satiable: continues to rise with wealth with no threshold or ceiling</a:t>
            </a:r>
            <a:endParaRPr/>
          </a:p>
          <a:p>
            <a:pPr indent="-325755" lvl="0" marL="457200" rtl="0" algn="l">
              <a:spcBef>
                <a:spcPts val="0"/>
              </a:spcBef>
              <a:spcAft>
                <a:spcPts val="0"/>
              </a:spcAft>
              <a:buSzPct val="100000"/>
              <a:buChar char="-"/>
            </a:pPr>
            <a:r>
              <a:rPr b="1" lang="en"/>
              <a:t>High Income buys</a:t>
            </a:r>
            <a:r>
              <a:rPr lang="en"/>
              <a:t> </a:t>
            </a:r>
            <a:r>
              <a:rPr b="1" lang="en"/>
              <a:t>life satisfaction, not happiness; </a:t>
            </a:r>
            <a:r>
              <a:rPr lang="en"/>
              <a:t>Low income is associated with low life satisfaction and low emotional well-being. </a:t>
            </a:r>
            <a:endParaRPr/>
          </a:p>
          <a:p>
            <a:pPr indent="-325755" lvl="0" marL="457200" rtl="0" algn="l">
              <a:spcBef>
                <a:spcPts val="0"/>
              </a:spcBef>
              <a:spcAft>
                <a:spcPts val="0"/>
              </a:spcAft>
              <a:buSzPct val="100000"/>
              <a:buChar char="-"/>
            </a:pPr>
            <a:r>
              <a:rPr b="1" lang="en"/>
              <a:t>Other life circumstances often matter more for daily emotions </a:t>
            </a:r>
            <a:r>
              <a:rPr lang="en"/>
              <a:t>than money does above the threshold</a:t>
            </a:r>
            <a:endParaRPr/>
          </a:p>
          <a:p>
            <a:pPr indent="-304165" lvl="1" marL="914400" rtl="0" algn="l">
              <a:spcBef>
                <a:spcPts val="0"/>
              </a:spcBef>
              <a:spcAft>
                <a:spcPts val="0"/>
              </a:spcAft>
              <a:buSzPct val="100000"/>
              <a:buChar char="-"/>
            </a:pPr>
            <a:r>
              <a:rPr lang="en"/>
              <a:t>Being </a:t>
            </a:r>
            <a:r>
              <a:rPr lang="en"/>
              <a:t>lonely</a:t>
            </a:r>
            <a:r>
              <a:rPr lang="en"/>
              <a:t>, having a headache, getting bullied, or being physically ill have larger negative effects on daily mood than the positive effect of moving from low to high income.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Takeaways </a:t>
            </a:r>
            <a:endParaRPr/>
          </a:p>
        </p:txBody>
      </p:sp>
      <p:sp>
        <p:nvSpPr>
          <p:cNvPr id="114" name="Google Shape;114;p21"/>
          <p:cNvSpPr txBox="1"/>
          <p:nvPr>
            <p:ph idx="1" type="body"/>
          </p:nvPr>
        </p:nvSpPr>
        <p:spPr>
          <a:xfrm>
            <a:off x="311700" y="1239653"/>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Emotional well-being and life evaluation are distinct; improving one doesn’t necessarily improve the other</a:t>
            </a:r>
            <a:endParaRPr/>
          </a:p>
          <a:p>
            <a:pPr indent="-342900" lvl="0" marL="457200" rtl="0" algn="l">
              <a:spcBef>
                <a:spcPts val="0"/>
              </a:spcBef>
              <a:spcAft>
                <a:spcPts val="0"/>
              </a:spcAft>
              <a:buSzPts val="1800"/>
              <a:buChar char="-"/>
            </a:pPr>
            <a:r>
              <a:rPr lang="en"/>
              <a:t>Income relates more strongly to life satisfaction than to happiness</a:t>
            </a:r>
            <a:endParaRPr/>
          </a:p>
          <a:p>
            <a:pPr indent="-342900" lvl="0" marL="457200" rtl="0" algn="l">
              <a:spcBef>
                <a:spcPts val="0"/>
              </a:spcBef>
              <a:spcAft>
                <a:spcPts val="0"/>
              </a:spcAft>
              <a:buSzPts val="1800"/>
              <a:buChar char="-"/>
            </a:pPr>
            <a:r>
              <a:rPr lang="en"/>
              <a:t>After basic financial stability is reached, factors of non-monetary value such as social connection, stress, health, etc. play a large part in shaping everyday emotional well-being</a:t>
            </a:r>
            <a:endParaRPr/>
          </a:p>
          <a:p>
            <a:pPr indent="-342900" lvl="0" marL="457200" rtl="0" algn="l">
              <a:spcBef>
                <a:spcPts val="0"/>
              </a:spcBef>
              <a:spcAft>
                <a:spcPts val="0"/>
              </a:spcAft>
              <a:buSzPts val="1800"/>
              <a:buChar char="-"/>
            </a:pPr>
            <a:r>
              <a:rPr lang="en"/>
              <a:t>Income plays a role in reducing emotional suffering (when lacking financial stability)</a:t>
            </a:r>
            <a:endParaRPr/>
          </a:p>
          <a:p>
            <a:pPr indent="-342900" lvl="0" marL="457200" rtl="0" algn="l">
              <a:spcBef>
                <a:spcPts val="0"/>
              </a:spcBef>
              <a:spcAft>
                <a:spcPts val="0"/>
              </a:spcAft>
              <a:buSzPts val="1800"/>
              <a:buChar char="-"/>
            </a:pPr>
            <a:r>
              <a:rPr lang="en"/>
              <a:t>Emotional well-being plateaus with high income, while life evaluation continues to increase</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Questions:</a:t>
            </a:r>
            <a:endParaRPr/>
          </a:p>
        </p:txBody>
      </p:sp>
      <p:sp>
        <p:nvSpPr>
          <p:cNvPr id="120" name="Google Shape;120;p22"/>
          <p:cNvSpPr txBox="1"/>
          <p:nvPr>
            <p:ph idx="1" type="body"/>
          </p:nvPr>
        </p:nvSpPr>
        <p:spPr>
          <a:xfrm>
            <a:off x="311700" y="1152475"/>
            <a:ext cx="8520600" cy="3767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b="1" lang="en"/>
              <a:t>The authors found that high income does not improve daily happiness. What does this imply about how people should think about career choices, life goals, or the pursuit of money?</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AutoNum type="arabicPeriod"/>
            </a:pPr>
            <a:r>
              <a:rPr b="1" lang="en"/>
              <a:t>The study shows that low income increases the emotional pain of divorce, illness, and loneliness. Why might poverty make negative experiences feel worse?</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AutoNum type="arabicPeriod"/>
            </a:pPr>
            <a:r>
              <a:rPr b="1" lang="en"/>
              <a:t>Why do you think people often believe that more money will make them much happier, even though this study shows that daily emotional happiness barely changes after a certain income level?</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